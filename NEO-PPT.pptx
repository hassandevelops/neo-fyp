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Nobile"/>
      <p:regular r:id="rId15"/>
      <p:bold r:id="rId16"/>
      <p:italic r:id="rId17"/>
      <p:boldItalic r:id="rId18"/>
    </p:embeddedFont>
    <p:embeddedFont>
      <p:font typeface="Fraunces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auncesExtraBold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bile-regular.fntdata"/><Relationship Id="rId14" Type="http://schemas.openxmlformats.org/officeDocument/2006/relationships/slide" Target="slides/slide10.xml"/><Relationship Id="rId17" Type="http://schemas.openxmlformats.org/officeDocument/2006/relationships/font" Target="fonts/Nobile-italic.fntdata"/><Relationship Id="rId16" Type="http://schemas.openxmlformats.org/officeDocument/2006/relationships/font" Target="fonts/Nobile-bold.fntdata"/><Relationship Id="rId5" Type="http://schemas.openxmlformats.org/officeDocument/2006/relationships/slide" Target="slides/slide1.xml"/><Relationship Id="rId19" Type="http://schemas.openxmlformats.org/officeDocument/2006/relationships/font" Target="fonts/FrauncesExtraBold-bold.fntdata"/><Relationship Id="rId6" Type="http://schemas.openxmlformats.org/officeDocument/2006/relationships/slide" Target="slides/slide2.xml"/><Relationship Id="rId18" Type="http://schemas.openxmlformats.org/officeDocument/2006/relationships/font" Target="fonts/Nobil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93790" y="1648301"/>
            <a:ext cx="130428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6150"/>
              <a:buFont typeface="Fraunces ExtraBold"/>
              <a:buNone/>
            </a:pPr>
            <a:r>
              <a:rPr b="1" i="0" lang="en-US" sz="61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NEO: A Decentralized Social Media Platform</a:t>
            </a:r>
            <a:endParaRPr b="0" i="0" sz="615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793790" y="39448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Group Members:</a:t>
            </a:r>
            <a:endParaRPr b="0" i="0" sz="22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793790" y="4639389"/>
            <a:ext cx="13042821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Wilayat Ali (F22-BSCS-006)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Hassan Raza (F22-BSCS-022)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Maham Zaka (F22-BSCS-013)</a:t>
            </a:r>
            <a:endParaRPr b="0" i="0" sz="17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793790" y="62268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793790" y="3060144"/>
            <a:ext cx="813827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Problem Statement / Type of Work:</a:t>
            </a:r>
            <a:endParaRPr b="0" i="0" sz="35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4080748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Addressing the "Centralization Trap" where reliance on central servers leads to censorship, mass surveillance, and communication blackouts during internet outages or disasters.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Serverless, peer-to-peer social media application using Bluetooth mesh networking.</a:t>
            </a:r>
            <a:endParaRPr b="0" i="0" sz="17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793790" y="1245275"/>
            <a:ext cx="9126022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Literature Review / Background (Table)</a:t>
            </a:r>
            <a:endParaRPr b="0" i="0" sz="3550" u="none" cap="none" strike="noStrike"/>
          </a:p>
        </p:txBody>
      </p:sp>
      <p:sp>
        <p:nvSpPr>
          <p:cNvPr id="75" name="Google Shape;75;p15"/>
          <p:cNvSpPr/>
          <p:nvPr/>
        </p:nvSpPr>
        <p:spPr>
          <a:xfrm>
            <a:off x="793790" y="2265878"/>
            <a:ext cx="13042821" cy="4718447"/>
          </a:xfrm>
          <a:prstGeom prst="roundRect">
            <a:avLst>
              <a:gd fmla="val 432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801410" y="2273498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028462" y="2417207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Existing System</a:t>
            </a:r>
            <a:endParaRPr b="0" i="0" sz="1750" u="none" cap="none" strike="noStrike"/>
          </a:p>
        </p:txBody>
      </p:sp>
      <p:sp>
        <p:nvSpPr>
          <p:cNvPr id="78" name="Google Shape;78;p15"/>
          <p:cNvSpPr/>
          <p:nvPr/>
        </p:nvSpPr>
        <p:spPr>
          <a:xfrm>
            <a:off x="3637717" y="2417207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Technology Used</a:t>
            </a:r>
            <a:endParaRPr b="0" i="0" sz="1750" u="none" cap="none" strike="noStrike"/>
          </a:p>
        </p:txBody>
      </p:sp>
      <p:sp>
        <p:nvSpPr>
          <p:cNvPr id="79" name="Google Shape;79;p15"/>
          <p:cNvSpPr/>
          <p:nvPr/>
        </p:nvSpPr>
        <p:spPr>
          <a:xfrm>
            <a:off x="6243161" y="2417207"/>
            <a:ext cx="344697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Limitation</a:t>
            </a:r>
            <a:endParaRPr b="0" i="0" sz="1750" u="none" cap="none" strike="noStrike"/>
          </a:p>
        </p:txBody>
      </p:sp>
      <p:sp>
        <p:nvSpPr>
          <p:cNvPr id="80" name="Google Shape;80;p15"/>
          <p:cNvSpPr/>
          <p:nvPr/>
        </p:nvSpPr>
        <p:spPr>
          <a:xfrm>
            <a:off x="10151388" y="2417207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How Neo Improves</a:t>
            </a:r>
            <a:endParaRPr b="0" i="0" sz="175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801410" y="2923818"/>
            <a:ext cx="1302758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1028462" y="3067526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Bridgefy</a:t>
            </a:r>
            <a:endParaRPr b="0" i="0" sz="17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3637717" y="3067526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Bluetooth Mesh</a:t>
            </a:r>
            <a:endParaRPr b="0" i="0" sz="17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6243161" y="3067526"/>
            <a:ext cx="344697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Only messaging, no feed</a:t>
            </a:r>
            <a:endParaRPr b="0" i="0" sz="17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10151388" y="3067526"/>
            <a:ext cx="3450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Full social feed with posts and reactions</a:t>
            </a:r>
            <a:endParaRPr b="0" i="0" sz="17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801410" y="3937040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1028462" y="4080748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Briar</a:t>
            </a:r>
            <a:endParaRPr b="0" i="0" sz="17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3637717" y="4080748"/>
            <a:ext cx="214419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Secure P2P messaging</a:t>
            </a:r>
            <a:endParaRPr b="0" i="0" sz="17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6243161" y="4080748"/>
            <a:ext cx="344697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No public social content</a:t>
            </a:r>
            <a:endParaRPr b="0" i="0" sz="17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10151388" y="4080748"/>
            <a:ext cx="3450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Supports public posts and comments</a:t>
            </a:r>
            <a:endParaRPr b="0" i="0" sz="17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801410" y="4950262"/>
            <a:ext cx="1302758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028462" y="5093970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Manyverse</a:t>
            </a:r>
            <a:endParaRPr b="0" i="0" sz="17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3637717" y="5093970"/>
            <a:ext cx="214419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Scuttlebutt protocol</a:t>
            </a:r>
            <a:endParaRPr b="0" i="0" sz="17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6243161" y="5093970"/>
            <a:ext cx="344697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Heavy and not Bluetooth-optimized</a:t>
            </a:r>
            <a:endParaRPr b="0" i="0" sz="17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10151388" y="5093970"/>
            <a:ext cx="3450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Lightweight Bluetooth-based system</a:t>
            </a:r>
            <a:endParaRPr b="0" i="0" sz="17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801410" y="5963483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1028462" y="6107192"/>
            <a:ext cx="21480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Traditional Social Media</a:t>
            </a:r>
            <a:endParaRPr b="0" i="0" sz="17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3637717" y="6107192"/>
            <a:ext cx="21441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Central servers</a:t>
            </a:r>
            <a:endParaRPr b="0" i="0" sz="175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6243161" y="6107192"/>
            <a:ext cx="344697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Censorship, outages, surveillance</a:t>
            </a:r>
            <a:endParaRPr b="0" i="0" sz="175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10151388" y="6107192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Fully decentralized, serverless</a:t>
            </a:r>
            <a:endParaRPr b="0" i="0" sz="175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70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773668" y="3110865"/>
            <a:ext cx="3792141" cy="47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950"/>
              <a:buFont typeface="Fraunces ExtraBold"/>
              <a:buNone/>
            </a:pPr>
            <a:r>
              <a:rPr b="1" i="0" lang="en-US" sz="29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Business Scope</a:t>
            </a:r>
            <a:endParaRPr b="0" i="0" sz="295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773668" y="3980974"/>
            <a:ext cx="2370058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Target Users:</a:t>
            </a:r>
            <a:endParaRPr b="0" i="0" sz="185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773668" y="4435673"/>
            <a:ext cx="6310193" cy="128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Disaster-affected communities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Rural or internet-deprived areas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Privacy-sensitive users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Emergency response teams</a:t>
            </a:r>
            <a:endParaRPr b="0" i="0" sz="145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7553920" y="3980974"/>
            <a:ext cx="2370058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Market Need:</a:t>
            </a:r>
            <a:endParaRPr b="0" i="0" sz="185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7553920" y="4435673"/>
            <a:ext cx="6310193" cy="94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Communication without internet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Privacy-preserving social platforms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Resilient communication systems</a:t>
            </a:r>
            <a:endParaRPr b="0" i="0" sz="145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773668" y="6008727"/>
            <a:ext cx="2768560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Potential Applications:</a:t>
            </a:r>
            <a:endParaRPr b="0" i="0" sz="185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773668" y="6542603"/>
            <a:ext cx="13082945" cy="94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Disaster coordination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Local community networks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Char char="•"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Secure field communication</a:t>
            </a:r>
            <a:endParaRPr b="0" i="0" sz="145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793790" y="725448"/>
            <a:ext cx="6131481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Methodology / Framework</a:t>
            </a:r>
            <a:endParaRPr b="0" i="0" sz="355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793790" y="1383149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650"/>
              <a:buFont typeface="Fraunces ExtraBold"/>
              <a:buNone/>
            </a:pPr>
            <a:r>
              <a:rPr b="1" i="0" lang="en-US" sz="26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System Workflow</a:t>
            </a:r>
            <a:endParaRPr b="0" i="0" sz="2650" u="none" cap="none" strike="noStrike"/>
          </a:p>
        </p:txBody>
      </p:sp>
      <p:pic>
        <p:nvPicPr>
          <p:cNvPr descr="preencoded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625" y="2148602"/>
            <a:ext cx="12625030" cy="4737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546" y="3355327"/>
            <a:ext cx="652135" cy="65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11203535" y="5552615"/>
            <a:ext cx="1904234" cy="73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Gossip Broadcast</a:t>
            </a:r>
            <a:endParaRPr b="0" i="0" sz="2300" u="none" cap="none" strike="noStrike"/>
          </a:p>
        </p:txBody>
      </p:sp>
      <p:pic>
        <p:nvPicPr>
          <p:cNvPr descr="preencoded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7120" y="3356550"/>
            <a:ext cx="652135" cy="65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8803678" y="5552615"/>
            <a:ext cx="1904234" cy="73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Discover Peers</a:t>
            </a:r>
            <a:endParaRPr b="0" i="0" sz="2300" u="none" cap="none" strike="noStrike"/>
          </a:p>
        </p:txBody>
      </p:sp>
      <p:pic>
        <p:nvPicPr>
          <p:cNvPr descr="preencoded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07" y="3356550"/>
            <a:ext cx="652135" cy="65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6416864" y="5736028"/>
            <a:ext cx="1904234" cy="3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Save Locally</a:t>
            </a:r>
            <a:endParaRPr b="0" i="0" sz="2300" u="none" cap="none" strike="noStrike"/>
          </a:p>
        </p:txBody>
      </p:sp>
      <p:pic>
        <p:nvPicPr>
          <p:cNvPr descr="preencoded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493" y="3356550"/>
            <a:ext cx="652135" cy="65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4030050" y="5552615"/>
            <a:ext cx="1904234" cy="73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Digitally Sign</a:t>
            </a:r>
            <a:endParaRPr b="0" i="0" sz="2300" u="none" cap="none" strike="noStrike"/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3636" y="3356550"/>
            <a:ext cx="652135" cy="65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1591065" y="5736028"/>
            <a:ext cx="1904234" cy="3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Create Post</a:t>
            </a:r>
            <a:endParaRPr b="0" i="0" sz="23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793790" y="714125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Result: </a:t>
            </a: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Serverless, decentralized data propagation.</a:t>
            </a:r>
            <a:endParaRPr b="0" i="0" sz="17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793790" y="1088588"/>
            <a:ext cx="4784050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Tools and Languages</a:t>
            </a:r>
            <a:endParaRPr b="0" i="0" sz="355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793790" y="2222540"/>
            <a:ext cx="358675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Programming Language:</a:t>
            </a:r>
            <a:endParaRPr b="0" i="0" sz="220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793790" y="280368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Kotlin</a:t>
            </a:r>
            <a:endParaRPr b="0" i="0" sz="175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793790" y="33934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Frameworks:</a:t>
            </a:r>
            <a:endParaRPr b="0" i="0" sz="220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793790" y="3974544"/>
            <a:ext cx="6244709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Jetpack Compose (UI)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Room Persistence Library</a:t>
            </a:r>
            <a:endParaRPr b="0" i="0" sz="175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7599521" y="222254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Networking:</a:t>
            </a:r>
            <a:endParaRPr b="0" i="0" sz="220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7599521" y="2803684"/>
            <a:ext cx="6244709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Bluetooth Classic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Bluetooth Low Energy (BLE)</a:t>
            </a:r>
            <a:endParaRPr b="0" i="0" sz="175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7599521" y="38355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Security:</a:t>
            </a:r>
            <a:endParaRPr b="0" i="0" sz="220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7599521" y="4416743"/>
            <a:ext cx="6244709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Ed25519 digital signatures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Android Keystore</a:t>
            </a:r>
            <a:endParaRPr b="0" i="0" sz="175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793790" y="5641300"/>
            <a:ext cx="284749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Development Tools:</a:t>
            </a:r>
            <a:endParaRPr b="0" i="0" sz="220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793790" y="6335792"/>
            <a:ext cx="13042821" cy="805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Android Studio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StarUML</a:t>
            </a:r>
            <a:endParaRPr b="0" i="0" sz="1750" u="none" cap="none" strike="noStrike"/>
          </a:p>
        </p:txBody>
      </p:sp>
      <p:sp>
        <p:nvSpPr>
          <p:cNvPr id="152" name="Google Shape;152;p18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6280190" y="2595324"/>
            <a:ext cx="6471166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Constraints and Limitations</a:t>
            </a:r>
            <a:endParaRPr b="0" i="0" sz="355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6280190" y="3502462"/>
            <a:ext cx="7556421" cy="2131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Limited Bluetooth range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Slower propagation compared to internet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No</a:t>
            </a:r>
            <a:r>
              <a:rPr lang="en-US" sz="1750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 </a:t>
            </a: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video support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Mesh performance depends on number of nearby devices</a:t>
            </a:r>
            <a:endParaRPr b="0" i="0" sz="175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793790" y="1263134"/>
            <a:ext cx="75523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Work Breakdown with Timelines</a:t>
            </a:r>
            <a:endParaRPr b="0" i="0" sz="3550" u="none" cap="none" strike="noStrike"/>
          </a:p>
        </p:txBody>
      </p:sp>
      <p:sp>
        <p:nvSpPr>
          <p:cNvPr id="168" name="Google Shape;168;p20"/>
          <p:cNvSpPr/>
          <p:nvPr/>
        </p:nvSpPr>
        <p:spPr>
          <a:xfrm>
            <a:off x="793790" y="1920835"/>
            <a:ext cx="4778335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650"/>
              <a:buFont typeface="Fraunces ExtraBold"/>
              <a:buNone/>
            </a:pPr>
            <a:r>
              <a:rPr b="1" i="0" lang="en-US" sz="26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Project Timeline (227 Days)</a:t>
            </a:r>
            <a:endParaRPr b="0" i="0" sz="2650" u="none" cap="none" strike="noStrike"/>
          </a:p>
        </p:txBody>
      </p:sp>
      <p:sp>
        <p:nvSpPr>
          <p:cNvPr id="169" name="Google Shape;169;p20"/>
          <p:cNvSpPr/>
          <p:nvPr/>
        </p:nvSpPr>
        <p:spPr>
          <a:xfrm>
            <a:off x="793790" y="2686288"/>
            <a:ext cx="13042821" cy="4280059"/>
          </a:xfrm>
          <a:prstGeom prst="roundRect">
            <a:avLst>
              <a:gd fmla="val 477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801410" y="2693908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1029653" y="283761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Phase</a:t>
            </a:r>
            <a:endParaRPr b="0" i="0" sz="175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5375077" y="2837617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Duration</a:t>
            </a:r>
            <a:endParaRPr b="0" i="0" sz="175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9716691" y="283761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Key Tasks</a:t>
            </a:r>
            <a:endParaRPr b="0" i="0" sz="1750" u="none" cap="none" strike="noStrike"/>
          </a:p>
        </p:txBody>
      </p:sp>
      <p:sp>
        <p:nvSpPr>
          <p:cNvPr id="174" name="Google Shape;174;p20"/>
          <p:cNvSpPr/>
          <p:nvPr/>
        </p:nvSpPr>
        <p:spPr>
          <a:xfrm>
            <a:off x="801410" y="3344228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1029653" y="348793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Planning</a:t>
            </a:r>
            <a:endParaRPr b="0" i="0" sz="175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5375077" y="348793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Sep 2025</a:t>
            </a:r>
            <a:endParaRPr b="0" i="0" sz="175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9716691" y="348793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Idea finalization, research</a:t>
            </a:r>
            <a:endParaRPr b="0" i="0" sz="175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801410" y="3994547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1029653" y="413825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Design</a:t>
            </a:r>
            <a:endParaRPr b="0" i="0" sz="17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5375077" y="4138255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Oct–Nov 2025</a:t>
            </a:r>
            <a:endParaRPr b="0" i="0" sz="175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9716691" y="413825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Architecture, UI mockups</a:t>
            </a:r>
            <a:endParaRPr b="0" i="0" sz="1750" u="none" cap="none" strike="noStrike"/>
          </a:p>
        </p:txBody>
      </p:sp>
      <p:sp>
        <p:nvSpPr>
          <p:cNvPr id="182" name="Google Shape;182;p20"/>
          <p:cNvSpPr/>
          <p:nvPr/>
        </p:nvSpPr>
        <p:spPr>
          <a:xfrm>
            <a:off x="801410" y="4644866"/>
            <a:ext cx="1302627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1029653" y="478857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Development</a:t>
            </a:r>
            <a:endParaRPr b="0" i="0" sz="1750" u="none" cap="none" strike="noStrike"/>
          </a:p>
        </p:txBody>
      </p:sp>
      <p:sp>
        <p:nvSpPr>
          <p:cNvPr id="184" name="Google Shape;184;p20"/>
          <p:cNvSpPr/>
          <p:nvPr/>
        </p:nvSpPr>
        <p:spPr>
          <a:xfrm>
            <a:off x="5375077" y="4788575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Dec 2025 – Feb 2026</a:t>
            </a:r>
            <a:endParaRPr b="0" i="0" sz="175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9716691" y="4788575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Core features, gossip protocol, security</a:t>
            </a:r>
            <a:endParaRPr b="0" i="0" sz="175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801410" y="5658088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1029653" y="580179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Testing</a:t>
            </a:r>
            <a:endParaRPr b="0" i="0" sz="1750" u="none" cap="none" strike="noStrike"/>
          </a:p>
        </p:txBody>
      </p:sp>
      <p:sp>
        <p:nvSpPr>
          <p:cNvPr id="188" name="Google Shape;188;p20"/>
          <p:cNvSpPr/>
          <p:nvPr/>
        </p:nvSpPr>
        <p:spPr>
          <a:xfrm>
            <a:off x="5375077" y="5801797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Mar 2026</a:t>
            </a:r>
            <a:endParaRPr b="0" i="0" sz="175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9716691" y="580179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Multi-device testing</a:t>
            </a:r>
            <a:endParaRPr b="0" i="0" sz="175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801410" y="6308408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029653" y="645211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Finalization</a:t>
            </a:r>
            <a:endParaRPr b="0" i="0" sz="1750" u="none" cap="none" strike="noStrike"/>
          </a:p>
        </p:txBody>
      </p:sp>
      <p:sp>
        <p:nvSpPr>
          <p:cNvPr id="192" name="Google Shape;192;p20"/>
          <p:cNvSpPr/>
          <p:nvPr/>
        </p:nvSpPr>
        <p:spPr>
          <a:xfrm>
            <a:off x="5375077" y="645211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Apr 2026</a:t>
            </a:r>
            <a:endParaRPr b="0" i="0" sz="175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9716691" y="645211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Documentation and presentation</a:t>
            </a:r>
            <a:endParaRPr b="0" i="0" sz="175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793790" y="1742003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Conclusion</a:t>
            </a:r>
            <a:endParaRPr b="0" i="0" sz="3550" u="none" cap="none" strike="noStrike"/>
          </a:p>
        </p:txBody>
      </p:sp>
      <p:sp>
        <p:nvSpPr>
          <p:cNvPr id="202" name="Google Shape;202;p21"/>
          <p:cNvSpPr/>
          <p:nvPr/>
        </p:nvSpPr>
        <p:spPr>
          <a:xfrm>
            <a:off x="793790" y="2649141"/>
            <a:ext cx="7556421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Successfully built a </a:t>
            </a: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100% serverless social media platform</a:t>
            </a: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.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Implemented </a:t>
            </a: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Bluetooth mesh networking</a:t>
            </a: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 using gossip protocol.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Ensured </a:t>
            </a: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cryptographic trust</a:t>
            </a: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 using Ed25519 signatures.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Achieved </a:t>
            </a: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offline-first communication</a:t>
            </a: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 with local database.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Demonstrated </a:t>
            </a: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reliable text and image propagation</a:t>
            </a: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 across devices.</a:t>
            </a:r>
            <a:endParaRPr b="0" i="0" sz="1750" u="none" cap="none" strike="noStrike"/>
          </a:p>
        </p:txBody>
      </p:sp>
      <p:sp>
        <p:nvSpPr>
          <p:cNvPr id="203" name="Google Shape;203;p21"/>
          <p:cNvSpPr/>
          <p:nvPr/>
        </p:nvSpPr>
        <p:spPr>
          <a:xfrm>
            <a:off x="793790" y="576179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Neo proves that social communication can exist without central servers or internet.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793790" y="2538651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50"/>
              <a:buFont typeface="Fraunces ExtraBold"/>
              <a:buNone/>
            </a:pPr>
            <a:r>
              <a:rPr b="1" i="0" lang="en-US" sz="35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References</a:t>
            </a:r>
            <a:endParaRPr b="0" i="0" sz="3550" u="none" cap="none" strike="noStrike"/>
          </a:p>
        </p:txBody>
      </p:sp>
      <p:sp>
        <p:nvSpPr>
          <p:cNvPr id="210" name="Google Shape;210;p22"/>
          <p:cNvSpPr/>
          <p:nvPr/>
        </p:nvSpPr>
        <p:spPr>
          <a:xfrm>
            <a:off x="793790" y="3559254"/>
            <a:ext cx="13042821" cy="2131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Android Developer Documentation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Bluetooth Mesh Networking Research Papers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Ed25519 Cryptographic Documentation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Jetpack Compose Official Guides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Room Persistence Library Documentation</a:t>
            </a:r>
            <a:endParaRPr b="0" i="0" sz="1750" u="none" cap="none" strike="noStrike"/>
          </a:p>
        </p:txBody>
      </p:sp>
      <p:sp>
        <p:nvSpPr>
          <p:cNvPr id="211" name="Google Shape;211;p22"/>
          <p:cNvSpPr/>
          <p:nvPr/>
        </p:nvSpPr>
        <p:spPr>
          <a:xfrm>
            <a:off x="12691650" y="7678475"/>
            <a:ext cx="1938900" cy="551100"/>
          </a:xfrm>
          <a:prstGeom prst="rect">
            <a:avLst/>
          </a:prstGeom>
          <a:solidFill>
            <a:srgbClr val="FAFFFA"/>
          </a:solidFill>
          <a:ln cap="flat" cmpd="sng" w="9525">
            <a:solidFill>
              <a:srgbClr val="FAF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